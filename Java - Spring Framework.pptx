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4" r:id="rId4"/>
    <p:sldId id="266" r:id="rId5"/>
    <p:sldId id="267" r:id="rId6"/>
    <p:sldId id="265" r:id="rId7"/>
    <p:sldId id="268" r:id="rId8"/>
    <p:sldId id="269" r:id="rId9"/>
    <p:sldId id="258" r:id="rId10"/>
    <p:sldId id="271" r:id="rId11"/>
    <p:sldId id="272" r:id="rId12"/>
    <p:sldId id="274" r:id="rId13"/>
    <p:sldId id="277" r:id="rId14"/>
    <p:sldId id="275" r:id="rId15"/>
    <p:sldId id="273" r:id="rId16"/>
    <p:sldId id="278" r:id="rId17"/>
    <p:sldId id="279" r:id="rId18"/>
    <p:sldId id="280" r:id="rId19"/>
    <p:sldId id="282" r:id="rId20"/>
    <p:sldId id="283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4" r:id="rId30"/>
    <p:sldId id="295" r:id="rId31"/>
    <p:sldId id="297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://localhost:1951/h2-console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1951/h2-consol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947693"/>
            <a:ext cx="6400800" cy="1021080"/>
          </a:xfrm>
        </p:spPr>
        <p:txBody>
          <a:bodyPr>
            <a:normAutofit fontScale="85000" lnSpcReduction="20000"/>
          </a:bodyPr>
          <a:lstStyle/>
          <a:p>
            <a:r>
              <a:rPr lang="en-US" sz="2400" dirty="0"/>
              <a:t>Politeknik Gajah Tunggal</a:t>
            </a:r>
          </a:p>
          <a:p>
            <a:r>
              <a:rPr lang="en-US" sz="2400" dirty="0"/>
              <a:t>Rabu, 25 Juni 2025</a:t>
            </a:r>
          </a:p>
          <a:p>
            <a:r>
              <a:rPr lang="en-US" sz="2400" u="sng" dirty="0"/>
              <a:t>Rio Bastian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34D915-69BF-46A0-0CDE-10FEA77BF2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5224" y="911531"/>
            <a:ext cx="3273552" cy="2351242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FF4B308-5FB9-6F4B-886D-B6D83B7277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1256" y="3172301"/>
            <a:ext cx="2761488" cy="756793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68129-78F2-3C0C-4BD0-82F7442A3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Materi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107F2-9F82-F05B-1913-8E30948B0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Sejarah Spring framework (a story 🌱)</a:t>
            </a:r>
          </a:p>
          <a:p>
            <a:r>
              <a:rPr lang="en-US" dirty="0"/>
              <a:t>Apa </a:t>
            </a:r>
            <a:r>
              <a:rPr lang="en-US" dirty="0" err="1"/>
              <a:t>itu</a:t>
            </a:r>
            <a:r>
              <a:rPr lang="en-US" dirty="0"/>
              <a:t> Spring framework</a:t>
            </a:r>
          </a:p>
          <a:p>
            <a:r>
              <a:rPr lang="en-US" dirty="0"/>
              <a:t>Spring Boot</a:t>
            </a:r>
          </a:p>
          <a:p>
            <a:r>
              <a:rPr lang="en-US" dirty="0"/>
              <a:t>Spring MVC</a:t>
            </a:r>
          </a:p>
          <a:p>
            <a:r>
              <a:rPr lang="en-US" dirty="0"/>
              <a:t>Spring Security</a:t>
            </a:r>
          </a:p>
        </p:txBody>
      </p:sp>
    </p:spTree>
    <p:extLst>
      <p:ext uri="{BB962C8B-B14F-4D97-AF65-F5344CB8AC3E}">
        <p14:creationId xmlns:p14="http://schemas.microsoft.com/office/powerpoint/2010/main" val="860510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6A1B3-4E2D-1495-BD02-564FE5DFE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Sejarah Spring framework (a story 🌱)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EF76BC-F16C-94DF-C638-4DD7D0901F05}"/>
              </a:ext>
            </a:extLst>
          </p:cNvPr>
          <p:cNvSpPr/>
          <p:nvPr/>
        </p:nvSpPr>
        <p:spPr>
          <a:xfrm>
            <a:off x="2139696" y="1581596"/>
            <a:ext cx="6156645" cy="71323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/>
              <a:t>Java EE</a:t>
            </a:r>
            <a:r>
              <a:rPr lang="en-US" dirty="0"/>
              <a:t> </a:t>
            </a:r>
            <a:r>
              <a:rPr lang="en-US" dirty="0" err="1"/>
              <a:t>sebagai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</a:t>
            </a:r>
            <a:r>
              <a:rPr lang="en-US" dirty="0" err="1"/>
              <a:t>pembuatan</a:t>
            </a:r>
            <a:r>
              <a:rPr lang="en-US" dirty="0"/>
              <a:t> website pada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</a:t>
            </a:r>
          </a:p>
          <a:p>
            <a:pPr algn="ctr"/>
            <a:r>
              <a:rPr lang="en-US" dirty="0"/>
              <a:t>di </a:t>
            </a:r>
            <a:r>
              <a:rPr lang="en-US" dirty="0" err="1"/>
              <a:t>anggap</a:t>
            </a:r>
            <a:r>
              <a:rPr lang="en-US" dirty="0"/>
              <a:t> </a:t>
            </a:r>
            <a:r>
              <a:rPr lang="en-US" dirty="0" err="1"/>
              <a:t>terlalu</a:t>
            </a:r>
            <a:r>
              <a:rPr lang="en-US" dirty="0"/>
              <a:t> </a:t>
            </a:r>
            <a:r>
              <a:rPr lang="en-US" dirty="0" err="1"/>
              <a:t>rumit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C821F97-30F6-DE23-5F73-0DFA25513B16}"/>
              </a:ext>
            </a:extLst>
          </p:cNvPr>
          <p:cNvSpPr/>
          <p:nvPr/>
        </p:nvSpPr>
        <p:spPr>
          <a:xfrm>
            <a:off x="694944" y="1578232"/>
            <a:ext cx="1216152" cy="71659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E0A98A-D742-E3B9-AC1F-029AAA8A5809}"/>
              </a:ext>
            </a:extLst>
          </p:cNvPr>
          <p:cNvSpPr/>
          <p:nvPr/>
        </p:nvSpPr>
        <p:spPr>
          <a:xfrm>
            <a:off x="2139696" y="2377757"/>
            <a:ext cx="6156645" cy="42240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Rod Jhonson</a:t>
            </a:r>
            <a:r>
              <a:rPr lang="en-US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 </a:t>
            </a:r>
            <a:r>
              <a:rPr lang="en-US" dirty="0" err="1"/>
              <a:t>membuat</a:t>
            </a:r>
            <a:r>
              <a:rPr lang="en-US" dirty="0"/>
              <a:t> </a:t>
            </a:r>
            <a:r>
              <a:rPr lang="en-US" dirty="0" err="1"/>
              <a:t>pondasi</a:t>
            </a:r>
            <a:r>
              <a:rPr lang="en-US" dirty="0"/>
              <a:t> Spring Framework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750442-205A-9A7F-0141-6B6DF3F4D828}"/>
              </a:ext>
            </a:extLst>
          </p:cNvPr>
          <p:cNvSpPr/>
          <p:nvPr/>
        </p:nvSpPr>
        <p:spPr>
          <a:xfrm>
            <a:off x="694944" y="2374393"/>
            <a:ext cx="1216152" cy="42576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263C090-5372-24E2-6DA4-10CF0880C721}"/>
              </a:ext>
            </a:extLst>
          </p:cNvPr>
          <p:cNvSpPr/>
          <p:nvPr/>
        </p:nvSpPr>
        <p:spPr>
          <a:xfrm>
            <a:off x="2139696" y="2901379"/>
            <a:ext cx="6309360" cy="42240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Spring Framework v1.0 </a:t>
            </a:r>
            <a:r>
              <a:rPr lang="en-US" dirty="0" err="1"/>
              <a:t>lahir</a:t>
            </a:r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0C7C3A-AF16-44B4-446F-D0F4956DBCB5}"/>
              </a:ext>
            </a:extLst>
          </p:cNvPr>
          <p:cNvSpPr/>
          <p:nvPr/>
        </p:nvSpPr>
        <p:spPr>
          <a:xfrm>
            <a:off x="694944" y="2901379"/>
            <a:ext cx="1216152" cy="42240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6036F2A-1EF0-02DB-CBD5-03730C5877FC}"/>
              </a:ext>
            </a:extLst>
          </p:cNvPr>
          <p:cNvSpPr/>
          <p:nvPr/>
        </p:nvSpPr>
        <p:spPr>
          <a:xfrm>
            <a:off x="2139696" y="3425000"/>
            <a:ext cx="6309360" cy="9915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Di </a:t>
            </a:r>
            <a:r>
              <a:rPr lang="en-US" dirty="0" err="1"/>
              <a:t>adopsi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luas</a:t>
            </a:r>
            <a:r>
              <a:rPr lang="en-US" dirty="0"/>
              <a:t> oleh </a:t>
            </a:r>
            <a:r>
              <a:rPr lang="en-US" dirty="0" err="1"/>
              <a:t>Komunitas</a:t>
            </a:r>
            <a:r>
              <a:rPr lang="en-US" dirty="0"/>
              <a:t> Java, dan </a:t>
            </a:r>
            <a:r>
              <a:rPr lang="en-US" dirty="0" err="1"/>
              <a:t>menjadi</a:t>
            </a:r>
            <a:r>
              <a:rPr lang="en-US" dirty="0"/>
              <a:t> framework paling popular pada </a:t>
            </a:r>
            <a:r>
              <a:rPr lang="en-US" dirty="0" err="1"/>
              <a:t>saat</a:t>
            </a:r>
            <a:r>
              <a:rPr lang="en-US" dirty="0"/>
              <a:t> </a:t>
            </a:r>
            <a:r>
              <a:rPr lang="en-US" dirty="0" err="1"/>
              <a:t>itu</a:t>
            </a:r>
            <a:r>
              <a:rPr lang="en-US" dirty="0"/>
              <a:t>, AOP, MVC </a:t>
            </a:r>
            <a:r>
              <a:rPr lang="en-US" dirty="0" err="1"/>
              <a:t>lahir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di </a:t>
            </a:r>
            <a:r>
              <a:rPr lang="en-US" dirty="0" err="1"/>
              <a:t>kembangkan</a:t>
            </a:r>
            <a:r>
              <a:rPr lang="en-US" dirty="0"/>
              <a:t> oleh </a:t>
            </a:r>
            <a:r>
              <a:rPr lang="en-US" b="1" u="sng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Spring Source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85B587E-6473-91A1-C4B0-44F0E84AA7C9}"/>
              </a:ext>
            </a:extLst>
          </p:cNvPr>
          <p:cNvSpPr/>
          <p:nvPr/>
        </p:nvSpPr>
        <p:spPr>
          <a:xfrm>
            <a:off x="694944" y="3425000"/>
            <a:ext cx="1216152" cy="991551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2004 - 2010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D315D41-0CE5-9B2F-63EA-8ABF657619A5}"/>
              </a:ext>
            </a:extLst>
          </p:cNvPr>
          <p:cNvSpPr/>
          <p:nvPr/>
        </p:nvSpPr>
        <p:spPr>
          <a:xfrm>
            <a:off x="2139696" y="4568001"/>
            <a:ext cx="6309360" cy="690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Spring Boot release, di </a:t>
            </a:r>
            <a:r>
              <a:rPr lang="en-US" dirty="0" err="1"/>
              <a:t>kembangkan</a:t>
            </a:r>
            <a:r>
              <a:rPr lang="en-US" dirty="0"/>
              <a:t> oleh </a:t>
            </a:r>
            <a:r>
              <a:rPr lang="en-US" b="1" u="sng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Pivotal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567B09F-01BA-7772-A891-CE54071CBE73}"/>
              </a:ext>
            </a:extLst>
          </p:cNvPr>
          <p:cNvSpPr/>
          <p:nvPr/>
        </p:nvSpPr>
        <p:spPr>
          <a:xfrm>
            <a:off x="694944" y="4568001"/>
            <a:ext cx="1216152" cy="690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2013 - 2014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12E903D-6C2D-0BF6-E55E-9DD5D5CC76FA}"/>
              </a:ext>
            </a:extLst>
          </p:cNvPr>
          <p:cNvSpPr/>
          <p:nvPr/>
        </p:nvSpPr>
        <p:spPr>
          <a:xfrm>
            <a:off x="2139696" y="5411347"/>
            <a:ext cx="6309360" cy="690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Spring Cloud Microservices, di </a:t>
            </a:r>
            <a:r>
              <a:rPr lang="en-US" dirty="0" err="1"/>
              <a:t>kembangkan</a:t>
            </a:r>
            <a:r>
              <a:rPr lang="en-US" dirty="0"/>
              <a:t> oleh </a:t>
            </a:r>
            <a:r>
              <a:rPr lang="en-US" b="1" u="sng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VMware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9DE5F8-B327-323A-5AC7-3537520B7B2C}"/>
              </a:ext>
            </a:extLst>
          </p:cNvPr>
          <p:cNvSpPr/>
          <p:nvPr/>
        </p:nvSpPr>
        <p:spPr>
          <a:xfrm>
            <a:off x="694944" y="5411347"/>
            <a:ext cx="1216152" cy="69094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2019 - Now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99FD8460-DCB4-9CFC-BC24-BE1941E0C1B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92948" y="5132078"/>
            <a:ext cx="712215" cy="991551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D6BBB99A-67AB-620B-D84C-BA7ADA54532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88815" y="4357793"/>
            <a:ext cx="509834" cy="901154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D3BABA72-B7C1-0CCE-12D7-1B888DA326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2059" y="2070676"/>
            <a:ext cx="1063437" cy="1056685"/>
          </a:xfrm>
          <a:prstGeom prst="rect">
            <a:avLst/>
          </a:prstGeom>
        </p:spPr>
      </p:pic>
      <p:pic>
        <p:nvPicPr>
          <p:cNvPr id="1026" name="Picture 2" descr="Rod Johnson, Author at Andreessen Horowitz">
            <a:extLst>
              <a:ext uri="{FF2B5EF4-FFF2-40B4-BE49-F238E27FC236}">
                <a16:creationId xmlns:a16="http://schemas.microsoft.com/office/drawing/2014/main" id="{D923D3E5-F881-6A3E-5D7B-A7FEB56D6A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1941" y="1828913"/>
            <a:ext cx="1606270" cy="16062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062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83D4E-1A0F-D0C9-2704-04312F5F18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ED80E-B606-BB70-36BE-2F1600DD5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Apa </a:t>
            </a:r>
            <a:r>
              <a:rPr lang="en-US" sz="3600" dirty="0" err="1"/>
              <a:t>itu</a:t>
            </a:r>
            <a:r>
              <a:rPr lang="en-US" sz="3600" dirty="0"/>
              <a:t> Spring framework (🌱) (1/4)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4609FB-4B87-F69E-0A9D-5FB9714E4AEC}"/>
              </a:ext>
            </a:extLst>
          </p:cNvPr>
          <p:cNvSpPr txBox="1"/>
          <p:nvPr/>
        </p:nvSpPr>
        <p:spPr>
          <a:xfrm>
            <a:off x="1213419" y="1699404"/>
            <a:ext cx="6717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“Spring Framework</a:t>
            </a:r>
            <a:r>
              <a:rPr lang="en-US" b="0" i="1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 is a Java platform </a:t>
            </a:r>
          </a:p>
          <a:p>
            <a:pPr algn="ctr"/>
            <a:r>
              <a:rPr lang="en-US" b="0" i="1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that provides comprehensive </a:t>
            </a:r>
            <a:r>
              <a:rPr lang="en-US" b="1" i="1" u="sng" dirty="0">
                <a:effectLst/>
                <a:latin typeface="Arial" panose="020B0604020202020204" pitchFamily="34" charset="0"/>
              </a:rPr>
              <a:t>infrastructure</a:t>
            </a:r>
            <a:r>
              <a:rPr lang="en-US" i="1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 support</a:t>
            </a:r>
          </a:p>
          <a:p>
            <a:pPr algn="ctr"/>
            <a:r>
              <a:rPr lang="en-US" b="0" i="1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for developing Java applications.”</a:t>
            </a:r>
          </a:p>
          <a:p>
            <a:pPr algn="ctr"/>
            <a:r>
              <a:rPr lang="en-US" dirty="0"/>
              <a:t>~ docs.spring.io ~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D1ABA9-5614-3DCD-0C09-40A7903AE335}"/>
              </a:ext>
            </a:extLst>
          </p:cNvPr>
          <p:cNvSpPr txBox="1"/>
          <p:nvPr/>
        </p:nvSpPr>
        <p:spPr>
          <a:xfrm>
            <a:off x="1121663" y="4841999"/>
            <a:ext cx="7120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“</a:t>
            </a:r>
            <a:r>
              <a:rPr lang="en-US" i="1" dirty="0"/>
              <a:t>What if we </a:t>
            </a:r>
            <a:r>
              <a:rPr lang="en-US" b="1" i="1" dirty="0"/>
              <a:t>let a container</a:t>
            </a:r>
            <a:r>
              <a:rPr lang="en-US" i="1" dirty="0"/>
              <a:t> manage object creation and wiring for us.</a:t>
            </a:r>
            <a:r>
              <a:rPr lang="en-US" b="0" i="1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”</a:t>
            </a:r>
          </a:p>
          <a:p>
            <a:pPr algn="ctr"/>
            <a:r>
              <a:rPr lang="en-US" dirty="0"/>
              <a:t>~ Rod Jhonson ~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92DFB72-9AE6-4E69-C852-4955FB365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398" y="3429000"/>
            <a:ext cx="3468642" cy="882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950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592D5-7C0F-4508-C42C-CC4237EF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CAAD3-8C1C-7246-0A4F-4FC81E89A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Apa </a:t>
            </a:r>
            <a:r>
              <a:rPr lang="en-US" sz="3600" dirty="0" err="1"/>
              <a:t>itu</a:t>
            </a:r>
            <a:r>
              <a:rPr lang="en-US" sz="3600" dirty="0"/>
              <a:t> Spring framework (🌱)(2/4)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174744-52AF-2D0A-DB81-24850DBE6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38" y="3126888"/>
            <a:ext cx="7367923" cy="329007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EB7E96EC-CFAC-2182-D14C-EE61CB806DF5}"/>
              </a:ext>
            </a:extLst>
          </p:cNvPr>
          <p:cNvGrpSpPr/>
          <p:nvPr/>
        </p:nvGrpSpPr>
        <p:grpSpPr>
          <a:xfrm>
            <a:off x="1088009" y="1400886"/>
            <a:ext cx="6967982" cy="1581477"/>
            <a:chOff x="1398918" y="1400886"/>
            <a:chExt cx="6967982" cy="1581477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1824B02-C8E4-E784-6348-A0BD5C7FA851}"/>
                </a:ext>
              </a:extLst>
            </p:cNvPr>
            <p:cNvSpPr txBox="1"/>
            <p:nvPr/>
          </p:nvSpPr>
          <p:spPr>
            <a:xfrm>
              <a:off x="1398918" y="2272268"/>
              <a:ext cx="119176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Beans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6B16CF0-06AD-55F4-27FB-3A4BFA4D33BC}"/>
                </a:ext>
              </a:extLst>
            </p:cNvPr>
            <p:cNvSpPr txBox="1"/>
            <p:nvPr/>
          </p:nvSpPr>
          <p:spPr>
            <a:xfrm>
              <a:off x="2590686" y="1400886"/>
              <a:ext cx="396262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ApplicationContext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D0DFA93-42AD-D965-17D8-FC7FB41514D7}"/>
                </a:ext>
              </a:extLst>
            </p:cNvPr>
            <p:cNvSpPr txBox="1"/>
            <p:nvPr/>
          </p:nvSpPr>
          <p:spPr>
            <a:xfrm>
              <a:off x="3571132" y="2151366"/>
              <a:ext cx="200173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@Component</a:t>
              </a:r>
            </a:p>
            <a:p>
              <a:pPr algn="ctr"/>
              <a:r>
                <a:rPr 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@Bean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704FFC9-BD7C-F19A-5FA4-1AD0BCA32155}"/>
                </a:ext>
              </a:extLst>
            </p:cNvPr>
            <p:cNvSpPr txBox="1"/>
            <p:nvPr/>
          </p:nvSpPr>
          <p:spPr>
            <a:xfrm>
              <a:off x="6429174" y="2272268"/>
              <a:ext cx="1937726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tx1">
                      <a:lumMod val="50000"/>
                      <a:lumOff val="50000"/>
                    </a:schemeClr>
                  </a:solidFill>
                </a:rPr>
                <a:t>@Autowired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1892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21FF0-DF38-C848-A6B3-613E4F593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#1 (3/4)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14BBA-EFC1-69BE-1AF6-38296A582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create a </a:t>
            </a:r>
            <a:r>
              <a:rPr lang="en-US" u="sng" dirty="0"/>
              <a:t>Maven</a:t>
            </a:r>
            <a:r>
              <a:rPr lang="en-US" dirty="0"/>
              <a:t> project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Run `</a:t>
            </a:r>
            <a:r>
              <a:rPr lang="en-US" dirty="0" err="1"/>
              <a:t>mvn</a:t>
            </a:r>
            <a:r>
              <a:rPr lang="en-US" dirty="0"/>
              <a:t> clean install`</a:t>
            </a:r>
          </a:p>
          <a:p>
            <a:r>
              <a:rPr lang="en-US" u="sng" dirty="0"/>
              <a:t>Run as Java application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1826C8-FBE5-B248-EB8F-673F1206FF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179" y="2176287"/>
            <a:ext cx="2429214" cy="25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901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77282F-1576-3ED3-100A-6FE67AD3E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FEEBD7-6BA1-83B5-5FC8-B5491D6E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#1 (4/4)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F4840D7-43AE-D6BF-7FA1-EF580AC84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22" y="1536192"/>
            <a:ext cx="8839556" cy="4905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44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B1FECA-3012-E15E-02C6-285EB5C73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1E54F-5353-78C3-879A-B188F15F7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Apa </a:t>
            </a:r>
            <a:r>
              <a:rPr lang="en-US" dirty="0" err="1"/>
              <a:t>itu</a:t>
            </a:r>
            <a:r>
              <a:rPr lang="en-US" dirty="0"/>
              <a:t> Spring Boot (   )(1/7)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9EC321-ABA1-A2D6-277C-6F8A7DD6B2D2}"/>
              </a:ext>
            </a:extLst>
          </p:cNvPr>
          <p:cNvSpPr txBox="1"/>
          <p:nvPr/>
        </p:nvSpPr>
        <p:spPr>
          <a:xfrm>
            <a:off x="1213419" y="1653199"/>
            <a:ext cx="6717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“</a:t>
            </a:r>
            <a:r>
              <a:rPr lang="en-US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Spring Boot makes it easy to create stand-alone, </a:t>
            </a:r>
          </a:p>
          <a:p>
            <a:pPr algn="ctr"/>
            <a:r>
              <a:rPr lang="en-US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production-grade Spring based </a:t>
            </a:r>
            <a:r>
              <a:rPr lang="en-US" b="1" i="1" dirty="0">
                <a:effectLst/>
                <a:latin typeface="Arial" panose="020B0604020202020204" pitchFamily="34" charset="0"/>
              </a:rPr>
              <a:t>Applications</a:t>
            </a:r>
            <a:r>
              <a:rPr lang="en-US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that you can ‘just run’.</a:t>
            </a:r>
            <a:r>
              <a:rPr lang="en-US" i="1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.”</a:t>
            </a:r>
          </a:p>
          <a:p>
            <a:pPr algn="ctr"/>
            <a:r>
              <a:rPr lang="en-US" dirty="0"/>
              <a:t>~ spring.io ~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C1270A5-BDCF-3FE2-5674-E61D6265444C}"/>
              </a:ext>
            </a:extLst>
          </p:cNvPr>
          <p:cNvSpPr txBox="1"/>
          <p:nvPr/>
        </p:nvSpPr>
        <p:spPr>
          <a:xfrm>
            <a:off x="1213419" y="3207857"/>
            <a:ext cx="16410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effectLst/>
                <a:latin typeface="Arial" panose="020B0604020202020204" pitchFamily="34" charset="0"/>
              </a:rPr>
              <a:t>2014</a:t>
            </a:r>
            <a:r>
              <a:rPr lang="en-US" sz="1600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sz="1600" i="1" dirty="0" err="1">
                <a:solidFill>
                  <a:srgbClr val="767676"/>
                </a:solidFill>
                <a:latin typeface="Arial" panose="020B0604020202020204" pitchFamily="34" charset="0"/>
              </a:rPr>
              <a:t>SpringBoot</a:t>
            </a:r>
            <a:r>
              <a:rPr lang="en-US" sz="1600" i="1" dirty="0">
                <a:solidFill>
                  <a:srgbClr val="767676"/>
                </a:solidFill>
                <a:latin typeface="Arial" panose="020B0604020202020204" pitchFamily="34" charset="0"/>
              </a:rPr>
              <a:t> 1.0 released</a:t>
            </a:r>
            <a:endParaRPr lang="en-US" sz="1600" i="1" dirty="0">
              <a:solidFill>
                <a:srgbClr val="767676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Spring Boot color icon in PNG, SVG">
            <a:extLst>
              <a:ext uri="{FF2B5EF4-FFF2-40B4-BE49-F238E27FC236}">
                <a16:creationId xmlns:a16="http://schemas.microsoft.com/office/drawing/2014/main" id="{8618AAC7-D5E7-6B54-D579-61AA67DCD3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328" y="679932"/>
            <a:ext cx="429768" cy="40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0F40FB5-0D78-1790-E750-067F8CD0BE00}"/>
              </a:ext>
            </a:extLst>
          </p:cNvPr>
          <p:cNvSpPr txBox="1"/>
          <p:nvPr/>
        </p:nvSpPr>
        <p:spPr>
          <a:xfrm>
            <a:off x="3697065" y="3377134"/>
            <a:ext cx="17480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effectLst/>
                <a:latin typeface="Arial" panose="020B0604020202020204" pitchFamily="34" charset="0"/>
              </a:rPr>
              <a:t>2018</a:t>
            </a:r>
            <a:r>
              <a:rPr lang="en-US" sz="1600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sz="1600" i="1" dirty="0" err="1">
                <a:solidFill>
                  <a:srgbClr val="767676"/>
                </a:solidFill>
                <a:latin typeface="Arial" panose="020B0604020202020204" pitchFamily="34" charset="0"/>
              </a:rPr>
              <a:t>SpringBoot</a:t>
            </a:r>
            <a:r>
              <a:rPr lang="en-US" sz="1600" i="1" dirty="0">
                <a:solidFill>
                  <a:srgbClr val="767676"/>
                </a:solidFill>
                <a:latin typeface="Arial" panose="020B0604020202020204" pitchFamily="34" charset="0"/>
              </a:rPr>
              <a:t> 2.0 released</a:t>
            </a:r>
          </a:p>
          <a:p>
            <a:pPr algn="ctr"/>
            <a:r>
              <a:rPr lang="en-US" sz="1600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Support</a:t>
            </a:r>
            <a:r>
              <a:rPr lang="en-US" sz="1600" i="1" dirty="0">
                <a:solidFill>
                  <a:srgbClr val="767676"/>
                </a:solidFill>
                <a:latin typeface="Arial" panose="020B0604020202020204" pitchFamily="34" charset="0"/>
              </a:rPr>
              <a:t> </a:t>
            </a:r>
            <a:r>
              <a:rPr lang="en-US" sz="1600" i="1" u="sng" dirty="0">
                <a:solidFill>
                  <a:srgbClr val="767676"/>
                </a:solidFill>
                <a:latin typeface="Arial" panose="020B0604020202020204" pitchFamily="34" charset="0"/>
              </a:rPr>
              <a:t>Reactive Programming</a:t>
            </a:r>
            <a:endParaRPr lang="en-US" sz="1600" i="1" u="sng" dirty="0">
              <a:solidFill>
                <a:srgbClr val="767676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411C0A-CBEF-BB27-4428-5C00DA763655}"/>
              </a:ext>
            </a:extLst>
          </p:cNvPr>
          <p:cNvSpPr txBox="1"/>
          <p:nvPr/>
        </p:nvSpPr>
        <p:spPr>
          <a:xfrm>
            <a:off x="6287708" y="3207857"/>
            <a:ext cx="164287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effectLst/>
                <a:latin typeface="Arial" panose="020B0604020202020204" pitchFamily="34" charset="0"/>
              </a:rPr>
              <a:t>2020</a:t>
            </a:r>
            <a:r>
              <a:rPr lang="en-US" sz="1600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sz="1600" i="1" dirty="0" err="1">
                <a:solidFill>
                  <a:srgbClr val="767676"/>
                </a:solidFill>
                <a:latin typeface="Arial" panose="020B0604020202020204" pitchFamily="34" charset="0"/>
              </a:rPr>
              <a:t>SpringBoot</a:t>
            </a:r>
            <a:r>
              <a:rPr lang="en-US" sz="1600" i="1" dirty="0">
                <a:solidFill>
                  <a:srgbClr val="767676"/>
                </a:solidFill>
                <a:latin typeface="Arial" panose="020B0604020202020204" pitchFamily="34" charset="0"/>
              </a:rPr>
              <a:t> 2.3 released</a:t>
            </a:r>
          </a:p>
          <a:p>
            <a:pPr algn="ctr"/>
            <a:r>
              <a:rPr lang="en-US" sz="1600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lang="en-US" sz="1600" i="1" u="sng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Docker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2B1849-2BE6-F6BB-8826-A8739A1A0430}"/>
              </a:ext>
            </a:extLst>
          </p:cNvPr>
          <p:cNvSpPr txBox="1"/>
          <p:nvPr/>
        </p:nvSpPr>
        <p:spPr>
          <a:xfrm>
            <a:off x="1916428" y="4930087"/>
            <a:ext cx="20051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effectLst/>
                <a:latin typeface="Arial" panose="020B0604020202020204" pitchFamily="34" charset="0"/>
              </a:rPr>
              <a:t>2022</a:t>
            </a:r>
            <a:r>
              <a:rPr lang="en-US" sz="1600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sz="1600" i="1" dirty="0" err="1">
                <a:solidFill>
                  <a:srgbClr val="767676"/>
                </a:solidFill>
                <a:latin typeface="Arial" panose="020B0604020202020204" pitchFamily="34" charset="0"/>
              </a:rPr>
              <a:t>SpringBoot</a:t>
            </a:r>
            <a:r>
              <a:rPr lang="en-US" sz="1600" i="1" dirty="0">
                <a:solidFill>
                  <a:srgbClr val="767676"/>
                </a:solidFill>
                <a:latin typeface="Arial" panose="020B0604020202020204" pitchFamily="34" charset="0"/>
              </a:rPr>
              <a:t> 2.7 released</a:t>
            </a:r>
          </a:p>
          <a:p>
            <a:pPr algn="ctr"/>
            <a:r>
              <a:rPr lang="en-US" sz="1600" i="1" u="sng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Long Term support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F89E61-88F2-3060-A90E-F5A751B61E68}"/>
              </a:ext>
            </a:extLst>
          </p:cNvPr>
          <p:cNvSpPr txBox="1"/>
          <p:nvPr/>
        </p:nvSpPr>
        <p:spPr>
          <a:xfrm>
            <a:off x="5158429" y="4930087"/>
            <a:ext cx="174802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i="1" dirty="0">
                <a:effectLst/>
                <a:latin typeface="Arial" panose="020B0604020202020204" pitchFamily="34" charset="0"/>
              </a:rPr>
              <a:t>2023</a:t>
            </a:r>
            <a:r>
              <a:rPr lang="en-US" sz="1600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algn="ctr"/>
            <a:r>
              <a:rPr lang="en-US" sz="1600" i="1" dirty="0" err="1">
                <a:solidFill>
                  <a:srgbClr val="767676"/>
                </a:solidFill>
                <a:latin typeface="Arial" panose="020B0604020202020204" pitchFamily="34" charset="0"/>
              </a:rPr>
              <a:t>SpringBoot</a:t>
            </a:r>
            <a:r>
              <a:rPr lang="en-US" sz="1600" i="1" dirty="0">
                <a:solidFill>
                  <a:srgbClr val="767676"/>
                </a:solidFill>
                <a:latin typeface="Arial" panose="020B0604020202020204" pitchFamily="34" charset="0"/>
              </a:rPr>
              <a:t> 2.7 released</a:t>
            </a:r>
          </a:p>
          <a:p>
            <a:pPr algn="ctr"/>
            <a:r>
              <a:rPr lang="en-US" sz="1600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Support </a:t>
            </a:r>
            <a:r>
              <a:rPr lang="en-US" sz="1600" i="1" u="sng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java 17</a:t>
            </a:r>
          </a:p>
        </p:txBody>
      </p:sp>
    </p:spTree>
    <p:extLst>
      <p:ext uri="{BB962C8B-B14F-4D97-AF65-F5344CB8AC3E}">
        <p14:creationId xmlns:p14="http://schemas.microsoft.com/office/powerpoint/2010/main" val="916480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Boot feature (   )(2/7)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Auto Configuration</a:t>
            </a:r>
            <a:endParaRPr dirty="0"/>
          </a:p>
          <a:p>
            <a:r>
              <a:rPr lang="en-US" dirty="0"/>
              <a:t>Profile Based config</a:t>
            </a:r>
            <a:endParaRPr dirty="0"/>
          </a:p>
          <a:p>
            <a:r>
              <a:rPr lang="en-US" dirty="0"/>
              <a:t>Application Monitoring</a:t>
            </a:r>
            <a:endParaRPr dirty="0"/>
          </a:p>
          <a:p>
            <a:r>
              <a:rPr lang="en-US" dirty="0"/>
              <a:t>Logging</a:t>
            </a:r>
          </a:p>
          <a:p>
            <a:r>
              <a:rPr lang="en-US" dirty="0"/>
              <a:t>Hot deploy</a:t>
            </a:r>
          </a:p>
        </p:txBody>
      </p:sp>
      <p:pic>
        <p:nvPicPr>
          <p:cNvPr id="5" name="Picture 2" descr="Spring Boot color icon in PNG, SVG">
            <a:extLst>
              <a:ext uri="{FF2B5EF4-FFF2-40B4-BE49-F238E27FC236}">
                <a16:creationId xmlns:a16="http://schemas.microsoft.com/office/drawing/2014/main" id="{D9B833E6-B111-BBC2-BC24-8AE73B599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1616" y="679932"/>
            <a:ext cx="429768" cy="40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F606D-DE99-5ACF-3D60-8672D1C97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A5036-6285-812E-34F1-F486F5C59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#2 (3/7)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68091-B8AB-A226-CA28-831E42841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</a:t>
            </a:r>
            <a:r>
              <a:rPr lang="en-US" u="sng" dirty="0"/>
              <a:t>Maven</a:t>
            </a:r>
            <a:r>
              <a:rPr lang="en-US" dirty="0"/>
              <a:t> project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$ </a:t>
            </a:r>
            <a:r>
              <a:rPr lang="en-US" dirty="0" err="1"/>
              <a:t>mvn</a:t>
            </a:r>
            <a:r>
              <a:rPr lang="en-US" dirty="0"/>
              <a:t> -e clean compile </a:t>
            </a:r>
            <a:r>
              <a:rPr lang="en-US" dirty="0" err="1"/>
              <a:t>spring-boot:run</a:t>
            </a:r>
            <a:r>
              <a:rPr lang="en-US" dirty="0"/>
              <a:t> </a:t>
            </a:r>
            <a:endParaRPr lang="en-US" i="1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D9380A7-B0A7-96B4-3874-2005F15E4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700" y="2176876"/>
            <a:ext cx="2164404" cy="254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53233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8CE2-A5FE-D5C8-D2D7-AA5259CB1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227C0-21F6-6086-D749-14091697DB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#2 (4/7)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99D035-3F5C-F8B0-0D22-F05B0E7BF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06" y="1417639"/>
            <a:ext cx="8871402" cy="4306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8440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2E429-CD5C-5199-F63B-ABBFA23D2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BD4DAC-4C6A-AC0C-4E0B-90DCC5320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#3 (5/7)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7742D2-E2DF-F99D-5A32-EE9609D6E3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Create new properties files : </a:t>
            </a:r>
          </a:p>
          <a:p>
            <a:pPr lvl="1"/>
            <a:r>
              <a:rPr lang="en-US" sz="2400" i="1" dirty="0"/>
              <a:t> application-</a:t>
            </a:r>
            <a:r>
              <a:rPr lang="en-US" sz="2400" i="1" dirty="0" err="1"/>
              <a:t>dev.properties</a:t>
            </a:r>
            <a:endParaRPr lang="en-US" sz="2400" i="1" dirty="0"/>
          </a:p>
          <a:p>
            <a:pPr marL="457200" lvl="1" indent="0">
              <a:buNone/>
            </a:pPr>
            <a:endParaRPr lang="en-US" sz="2400" i="1" dirty="0"/>
          </a:p>
          <a:p>
            <a:r>
              <a:rPr lang="en-US" sz="2800" i="1" dirty="0"/>
              <a:t>-</a:t>
            </a:r>
            <a:r>
              <a:rPr lang="en-US" sz="2800" i="1" dirty="0" err="1"/>
              <a:t>Dspring-boot.run.profiles</a:t>
            </a:r>
            <a:r>
              <a:rPr lang="en-US" sz="2800" i="1" dirty="0"/>
              <a:t>=dev</a:t>
            </a:r>
          </a:p>
          <a:p>
            <a:endParaRPr lang="en-US" sz="2800" i="1" dirty="0"/>
          </a:p>
          <a:p>
            <a:r>
              <a:rPr lang="en-US" sz="2800" dirty="0"/>
              <a:t>Use Actuator to monitor application metric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1452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7A689-A5B6-F41E-97F1-7B486E71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F8EB5-8F8E-3526-F495-DFA5720E5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#4 (6/7)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B6CF1-6542-E005-3715-A35E96DB94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000" dirty="0" err="1"/>
              <a:t>logging.level.root</a:t>
            </a:r>
            <a:r>
              <a:rPr lang="en-US" sz="3000" dirty="0"/>
              <a:t>=INFO </a:t>
            </a:r>
            <a:r>
              <a:rPr lang="en-US" sz="3000" dirty="0" err="1"/>
              <a:t>logging.level.org.springframework.web</a:t>
            </a:r>
            <a:r>
              <a:rPr lang="en-US" sz="3000" dirty="0"/>
              <a:t>=DEBUG</a:t>
            </a:r>
          </a:p>
          <a:p>
            <a:r>
              <a:rPr lang="en-US" dirty="0"/>
              <a:t>Option :</a:t>
            </a:r>
          </a:p>
          <a:p>
            <a:pPr lvl="1"/>
            <a:r>
              <a:rPr lang="en-US" dirty="0"/>
              <a:t>DEBUG</a:t>
            </a:r>
          </a:p>
          <a:p>
            <a:pPr lvl="1"/>
            <a:r>
              <a:rPr lang="en-US" dirty="0"/>
              <a:t>INFO</a:t>
            </a:r>
          </a:p>
          <a:p>
            <a:pPr lvl="1"/>
            <a:r>
              <a:rPr lang="en-US" dirty="0"/>
              <a:t>WARN</a:t>
            </a:r>
          </a:p>
          <a:p>
            <a:pPr lvl="1"/>
            <a:r>
              <a:rPr lang="en-US" dirty="0"/>
              <a:t>ERROR</a:t>
            </a:r>
          </a:p>
          <a:p>
            <a:pPr lvl="1"/>
            <a:r>
              <a:rPr lang="en-US" dirty="0"/>
              <a:t>TRACE</a:t>
            </a:r>
          </a:p>
        </p:txBody>
      </p:sp>
    </p:spTree>
    <p:extLst>
      <p:ext uri="{BB962C8B-B14F-4D97-AF65-F5344CB8AC3E}">
        <p14:creationId xmlns:p14="http://schemas.microsoft.com/office/powerpoint/2010/main" val="971805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59322-42E4-C172-9727-4B409A6BB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3732A-2A88-1169-38C6-C7578986FE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#4 (7/7)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374502-4B02-DCD9-136A-7F87F4CECE0E}"/>
              </a:ext>
            </a:extLst>
          </p:cNvPr>
          <p:cNvSpPr txBox="1"/>
          <p:nvPr/>
        </p:nvSpPr>
        <p:spPr>
          <a:xfrm>
            <a:off x="557784" y="2274838"/>
            <a:ext cx="8229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20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20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org.springframework.boot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0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20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&gt;spring-boot-</a:t>
            </a:r>
            <a:r>
              <a:rPr lang="en-US" sz="20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devtools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0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20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&gt;runtime&lt;/</a:t>
            </a:r>
            <a:r>
              <a:rPr lang="en-US" sz="20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20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&gt;true&lt;/</a:t>
            </a:r>
            <a:r>
              <a:rPr lang="en-US" sz="20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optional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/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20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20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5389617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F183C-8DB5-E308-1DF1-42130B5BD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083C7-79AF-3DA0-A9A6-1DBECC0CE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76D27-27A3-D343-5614-F50026E00B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err="1"/>
              <a:t>cari</a:t>
            </a:r>
            <a:r>
              <a:rPr lang="en-US" dirty="0"/>
              <a:t> tau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restart </a:t>
            </a:r>
            <a:r>
              <a:rPr lang="en-US" dirty="0" err="1"/>
              <a:t>SpringBoot</a:t>
            </a:r>
            <a:r>
              <a:rPr lang="en-US" dirty="0"/>
              <a:t> service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Actuator</a:t>
            </a:r>
          </a:p>
          <a:p>
            <a:r>
              <a:rPr lang="en-US" dirty="0" err="1"/>
              <a:t>cari</a:t>
            </a:r>
            <a:r>
              <a:rPr lang="en-US" dirty="0"/>
              <a:t> tau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setup Format Log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52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06E30-AB6B-35B6-EC39-6B30E351C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DA731-0E83-9238-5789-22490BF4E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Apa </a:t>
            </a:r>
            <a:r>
              <a:rPr lang="en-US" dirty="0" err="1"/>
              <a:t>itu</a:t>
            </a:r>
            <a:r>
              <a:rPr lang="en-US" dirty="0"/>
              <a:t> Spring MVC (   )(1/11)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B36EDA2-788A-AC6E-BA87-9836BE7A2A66}"/>
              </a:ext>
            </a:extLst>
          </p:cNvPr>
          <p:cNvSpPr txBox="1"/>
          <p:nvPr/>
        </p:nvSpPr>
        <p:spPr>
          <a:xfrm>
            <a:off x="1213419" y="1822932"/>
            <a:ext cx="67171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solidFill>
                  <a:srgbClr val="767676"/>
                </a:solidFill>
                <a:effectLst/>
                <a:latin typeface="Arial" panose="020B0604020202020204" pitchFamily="34" charset="0"/>
              </a:rPr>
              <a:t>“</a:t>
            </a:r>
            <a:r>
              <a:rPr lang="en-US" b="1" dirty="0"/>
              <a:t>Spring MVC</a:t>
            </a:r>
            <a:r>
              <a:rPr lang="en-US" dirty="0"/>
              <a:t> (Model-View-Controller) is a web framework within the </a:t>
            </a:r>
            <a:r>
              <a:rPr lang="en-US" b="1" dirty="0"/>
              <a:t>Spring Framework</a:t>
            </a:r>
            <a:r>
              <a:rPr lang="en-US" dirty="0"/>
              <a:t> that is used to build </a:t>
            </a:r>
            <a:r>
              <a:rPr lang="en-US" b="1" dirty="0"/>
              <a:t>Java web applications</a:t>
            </a:r>
            <a:r>
              <a:rPr lang="en-US" dirty="0"/>
              <a:t>, especially REST APIs and web UI’s.</a:t>
            </a:r>
            <a:r>
              <a:rPr lang="en-US" i="1" dirty="0">
                <a:solidFill>
                  <a:srgbClr val="474747"/>
                </a:solidFill>
                <a:effectLst/>
                <a:latin typeface="Arial" panose="020B0604020202020204" pitchFamily="34" charset="0"/>
              </a:rPr>
              <a:t>”</a:t>
            </a:r>
          </a:p>
          <a:p>
            <a:pPr algn="ctr"/>
            <a:r>
              <a:rPr lang="en-US" dirty="0"/>
              <a:t>~ spring.io ~</a:t>
            </a:r>
          </a:p>
        </p:txBody>
      </p:sp>
      <p:pic>
        <p:nvPicPr>
          <p:cNvPr id="1026" name="Picture 2" descr="Spring Boot color icon in PNG, SVG">
            <a:extLst>
              <a:ext uri="{FF2B5EF4-FFF2-40B4-BE49-F238E27FC236}">
                <a16:creationId xmlns:a16="http://schemas.microsoft.com/office/drawing/2014/main" id="{8F5A8E45-9BCE-66D7-DEC5-F8B7685747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5312" y="679932"/>
            <a:ext cx="429768" cy="40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62401C5-AF12-0AE5-49CF-030626B44831}"/>
              </a:ext>
            </a:extLst>
          </p:cNvPr>
          <p:cNvSpPr/>
          <p:nvPr/>
        </p:nvSpPr>
        <p:spPr>
          <a:xfrm>
            <a:off x="672084" y="3428555"/>
            <a:ext cx="2368296" cy="242316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Model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Java classes or Service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@Service</a:t>
            </a:r>
          </a:p>
          <a:p>
            <a:pPr algn="ctr"/>
            <a:r>
              <a:rPr lang="en-US" dirty="0"/>
              <a:t>@Component </a:t>
            </a:r>
          </a:p>
          <a:p>
            <a:pPr algn="ctr"/>
            <a:r>
              <a:rPr lang="en-US" dirty="0"/>
              <a:t>@Entity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917EB2E-FC94-ED36-0301-D5482433BC93}"/>
              </a:ext>
            </a:extLst>
          </p:cNvPr>
          <p:cNvSpPr/>
          <p:nvPr/>
        </p:nvSpPr>
        <p:spPr>
          <a:xfrm>
            <a:off x="5943600" y="3428555"/>
            <a:ext cx="2743200" cy="2423160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b="1" dirty="0"/>
          </a:p>
          <a:p>
            <a:pPr algn="ctr"/>
            <a:r>
              <a:rPr lang="en-US" b="1" dirty="0"/>
              <a:t>View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Response representative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Thymeleaf</a:t>
            </a:r>
          </a:p>
          <a:p>
            <a:pPr algn="ctr"/>
            <a:r>
              <a:rPr lang="en-US" dirty="0"/>
              <a:t>JSP</a:t>
            </a:r>
          </a:p>
          <a:p>
            <a:pPr algn="ctr"/>
            <a:r>
              <a:rPr lang="en-US" dirty="0"/>
              <a:t>Json</a:t>
            </a:r>
          </a:p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6CF6801-9466-DD74-1922-AB3E73C04092}"/>
              </a:ext>
            </a:extLst>
          </p:cNvPr>
          <p:cNvSpPr/>
          <p:nvPr/>
        </p:nvSpPr>
        <p:spPr>
          <a:xfrm>
            <a:off x="3040380" y="3434651"/>
            <a:ext cx="2903220" cy="2423160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Controller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Controller and Dispatcher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@Controller</a:t>
            </a:r>
          </a:p>
          <a:p>
            <a:pPr algn="ctr"/>
            <a:r>
              <a:rPr lang="en-US" dirty="0"/>
              <a:t>@Rest Controller </a:t>
            </a:r>
          </a:p>
          <a:p>
            <a:pPr algn="ctr"/>
            <a:r>
              <a:rPr lang="en-US" dirty="0"/>
              <a:t>@Rest Mapping</a:t>
            </a:r>
          </a:p>
        </p:txBody>
      </p:sp>
    </p:spTree>
    <p:extLst>
      <p:ext uri="{BB962C8B-B14F-4D97-AF65-F5344CB8AC3E}">
        <p14:creationId xmlns:p14="http://schemas.microsoft.com/office/powerpoint/2010/main" val="37616939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08B687-FC6E-9EC2-917A-B4D5DC4E1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68125-C6D8-E3BC-396A-9989A4CBCB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MVC annotation (   )(2/11)</a:t>
            </a:r>
          </a:p>
        </p:txBody>
      </p:sp>
      <p:pic>
        <p:nvPicPr>
          <p:cNvPr id="1026" name="Picture 2" descr="Spring Boot color icon in PNG, SVG">
            <a:extLst>
              <a:ext uri="{FF2B5EF4-FFF2-40B4-BE49-F238E27FC236}">
                <a16:creationId xmlns:a16="http://schemas.microsoft.com/office/drawing/2014/main" id="{DF2FCF45-E3BA-B845-B9A2-92C0AB99E4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24" y="679932"/>
            <a:ext cx="429768" cy="40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E4658-284E-1AA1-F8DE-9894EF644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@RestController</a:t>
            </a:r>
          </a:p>
          <a:p>
            <a:pPr lvl="1"/>
            <a:r>
              <a:rPr lang="en-US" dirty="0"/>
              <a:t>class level annotation, </a:t>
            </a:r>
            <a:r>
              <a:rPr lang="en-US" dirty="0" err="1"/>
              <a:t>penanda</a:t>
            </a:r>
            <a:r>
              <a:rPr lang="en-US" dirty="0"/>
              <a:t> </a:t>
            </a:r>
            <a:r>
              <a:rPr lang="en-US" dirty="0" err="1"/>
              <a:t>bahwa</a:t>
            </a:r>
            <a:r>
              <a:rPr lang="en-US" dirty="0"/>
              <a:t> class </a:t>
            </a:r>
            <a:r>
              <a:rPr lang="en-US" dirty="0" err="1"/>
              <a:t>tersebut</a:t>
            </a:r>
            <a:r>
              <a:rPr lang="en-US" dirty="0"/>
              <a:t> handle Web Request dan </a:t>
            </a:r>
            <a:r>
              <a:rPr lang="en-US" dirty="0" err="1"/>
              <a:t>mengembalikan</a:t>
            </a:r>
            <a:r>
              <a:rPr lang="en-US" dirty="0"/>
              <a:t> response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Data (Json, XML)</a:t>
            </a:r>
          </a:p>
          <a:p>
            <a:r>
              <a:rPr lang="en-US" dirty="0"/>
              <a:t>@RequestMapping</a:t>
            </a:r>
          </a:p>
          <a:p>
            <a:pPr lvl="1"/>
            <a:r>
              <a:rPr lang="en-US" dirty="0"/>
              <a:t>class/method level annotation,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routing path </a:t>
            </a:r>
            <a:r>
              <a:rPr lang="en-US" dirty="0" err="1"/>
              <a:t>ke</a:t>
            </a:r>
            <a:r>
              <a:rPr lang="en-US" dirty="0"/>
              <a:t> method yang di </a:t>
            </a:r>
            <a:r>
              <a:rPr lang="en-US" dirty="0" err="1"/>
              <a:t>inginkan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016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C1980-85FB-8E33-EB61-6F715EE29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81C7B-8483-8BD6-21DD-38B7724F3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MVC annotation (   )(3/11)</a:t>
            </a:r>
          </a:p>
        </p:txBody>
      </p:sp>
      <p:pic>
        <p:nvPicPr>
          <p:cNvPr id="1026" name="Picture 2" descr="Spring Boot color icon in PNG, SVG">
            <a:extLst>
              <a:ext uri="{FF2B5EF4-FFF2-40B4-BE49-F238E27FC236}">
                <a16:creationId xmlns:a16="http://schemas.microsoft.com/office/drawing/2014/main" id="{17CB9339-548B-DD03-587E-38CD4BE432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24" y="679932"/>
            <a:ext cx="429768" cy="40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03D20A-F02F-CB3F-7A9B-8BB943FA8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@GetMapping/@PostMapping</a:t>
            </a:r>
          </a:p>
          <a:p>
            <a:pPr lvl="1"/>
            <a:r>
              <a:rPr lang="en-US" dirty="0"/>
              <a:t>method level annotation, specialized version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RequestMapping</a:t>
            </a:r>
            <a:r>
              <a:rPr lang="en-US" dirty="0"/>
              <a:t> di level method</a:t>
            </a:r>
          </a:p>
          <a:p>
            <a:r>
              <a:rPr lang="en-US" dirty="0"/>
              <a:t>@PathVariable</a:t>
            </a:r>
          </a:p>
          <a:p>
            <a:pPr lvl="1"/>
            <a:r>
              <a:rPr lang="en-US" dirty="0"/>
              <a:t>Parameter binding annotation,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binding Path variable</a:t>
            </a:r>
          </a:p>
          <a:p>
            <a:r>
              <a:rPr lang="en-US" dirty="0"/>
              <a:t>@RequestParam</a:t>
            </a:r>
          </a:p>
          <a:p>
            <a:pPr lvl="1"/>
            <a:r>
              <a:rPr lang="en-US" dirty="0"/>
              <a:t>Parameter binding annotation,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bind Request parameter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6128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23EFE-FC3F-AF54-95C4-4A9780B95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EF730-7765-E01E-D68E-36ACDE66A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MVC annotation (   )(4/11)</a:t>
            </a:r>
          </a:p>
        </p:txBody>
      </p:sp>
      <p:pic>
        <p:nvPicPr>
          <p:cNvPr id="1026" name="Picture 2" descr="Spring Boot color icon in PNG, SVG">
            <a:extLst>
              <a:ext uri="{FF2B5EF4-FFF2-40B4-BE49-F238E27FC236}">
                <a16:creationId xmlns:a16="http://schemas.microsoft.com/office/drawing/2014/main" id="{9FA8684F-7264-EE8C-89C0-CFA7F9E7AE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24" y="679932"/>
            <a:ext cx="429768" cy="40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3C9B50-54D4-86EF-D9A3-DE844A4E4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/>
              <a:t>@RequestBody</a:t>
            </a:r>
          </a:p>
          <a:p>
            <a:pPr lvl="1"/>
            <a:r>
              <a:rPr lang="en-US" dirty="0"/>
              <a:t>Parameter binding annotation, di </a:t>
            </a:r>
            <a:r>
              <a:rPr lang="en-US" dirty="0" err="1"/>
              <a:t>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bind HTTP Request body</a:t>
            </a:r>
          </a:p>
          <a:p>
            <a:r>
              <a:rPr lang="en-US" dirty="0"/>
              <a:t>@Valid</a:t>
            </a:r>
          </a:p>
          <a:p>
            <a:pPr lvl="1"/>
            <a:r>
              <a:rPr lang="en-US" dirty="0"/>
              <a:t>POJO validation, </a:t>
            </a:r>
            <a:r>
              <a:rPr lang="en-US" dirty="0" err="1"/>
              <a:t>mengacu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standar</a:t>
            </a:r>
            <a:r>
              <a:rPr lang="en-US" dirty="0"/>
              <a:t> JSR-380 (Jakarta Bean Validation)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Validasi</a:t>
            </a:r>
            <a:r>
              <a:rPr lang="en-US" dirty="0"/>
              <a:t> attribute/variable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sebuah</a:t>
            </a:r>
            <a:r>
              <a:rPr lang="en-US" dirty="0"/>
              <a:t> class.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620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B922C-C5D4-2486-A098-9D606A77BB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16AF8-FF66-DF2E-3D65-F57AC1DEF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MVC annotation (   )(5/11)</a:t>
            </a:r>
          </a:p>
        </p:txBody>
      </p:sp>
      <p:pic>
        <p:nvPicPr>
          <p:cNvPr id="1026" name="Picture 2" descr="Spring Boot color icon in PNG, SVG">
            <a:extLst>
              <a:ext uri="{FF2B5EF4-FFF2-40B4-BE49-F238E27FC236}">
                <a16:creationId xmlns:a16="http://schemas.microsoft.com/office/drawing/2014/main" id="{DBB7A342-BFFC-83D1-5300-73F7B0C5F0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4224" y="679932"/>
            <a:ext cx="429768" cy="40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7EB44D-7643-5F1A-B852-EA1D7279C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13" y="2042388"/>
            <a:ext cx="7868174" cy="3837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709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8795A-F31A-3A62-ABB3-BD6BBE4E2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1A94E4-1146-3851-6E21-0206F877E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#5 (6/11)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06174-D5DE-7048-3F25-442DD05B3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</a:t>
            </a:r>
            <a:r>
              <a:rPr lang="en-US" u="sng" dirty="0"/>
              <a:t>Maven</a:t>
            </a:r>
            <a:r>
              <a:rPr lang="en-US" dirty="0"/>
              <a:t> project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BA178C-D4E0-F341-136E-A4A9D8C194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670" y="2208976"/>
            <a:ext cx="2730217" cy="4258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042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12C55B-97A6-0980-A278-F3981AE2D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CC614-2754-03A2-B29E-09A6239C2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#5 (7/11)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B2DBE1-B22B-30FF-5855-677325A49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0009"/>
            <a:ext cx="9144000" cy="441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396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C00D5-3955-68D8-F164-6ABE53B942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4E254-112E-5E21-FD18-9F64D8B0B7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#5 (8/11)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2D2A3FB-AADE-7D28-F9B9-653F99000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2604"/>
            <a:ext cx="9144000" cy="4615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6903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36DB0-8496-271B-B1B8-F36AAFE426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BFD83-279A-55B1-402F-3791A3995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#5 (9/11)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4C387A-C2E4-6182-58BA-1B8EDC262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68042"/>
            <a:ext cx="9144000" cy="452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9212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0AE47-1866-A3F3-1AE1-9B226213D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6BAA2-A7D8-6E7A-F2CB-12DF0618E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#6 (10/11)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F06CEB-16BF-DF0C-2C76-28849F07142C}"/>
              </a:ext>
            </a:extLst>
          </p:cNvPr>
          <p:cNvSpPr txBox="1"/>
          <p:nvPr/>
        </p:nvSpPr>
        <p:spPr>
          <a:xfrm>
            <a:off x="530352" y="1951672"/>
            <a:ext cx="80832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solidFill>
                  <a:srgbClr val="93A1A1"/>
                </a:solidFill>
                <a:effectLst/>
                <a:latin typeface="Consolas" panose="020B0609020204030204" pitchFamily="49" charset="0"/>
              </a:rPr>
              <a:t>&lt;!-- 4. Security --&gt;</a:t>
            </a:r>
            <a:endParaRPr lang="en-US" sz="180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org.springframework.boot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&gt;spring-boot-starter-security&lt;/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333788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B2DB3-B137-E684-ACC7-3CEC1BCA9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B998F-8037-854B-30A0-61A451223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#6 (11/11)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6FBECE-CD3B-F895-6EF6-CEC7B65EB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36" y="1169661"/>
            <a:ext cx="4846320" cy="5604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1431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2C7BD-53A7-0521-184C-E9545EFB2F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C78FF-ADBA-002D-99C6-648588EE1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20C4E2-CFE6-D15B-3D67-082FEE9AF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en-US" dirty="0" err="1"/>
              <a:t>cari</a:t>
            </a:r>
            <a:r>
              <a:rPr lang="en-US" dirty="0"/>
              <a:t> tau </a:t>
            </a:r>
            <a:r>
              <a:rPr lang="en-US" dirty="0" err="1"/>
              <a:t>bagaimana</a:t>
            </a:r>
            <a:r>
              <a:rPr lang="en-US" dirty="0"/>
              <a:t> </a:t>
            </a:r>
            <a:r>
              <a:rPr lang="en-US" dirty="0" err="1"/>
              <a:t>cara</a:t>
            </a:r>
            <a:r>
              <a:rPr lang="en-US" dirty="0"/>
              <a:t> login </a:t>
            </a:r>
            <a:r>
              <a:rPr lang="en-US" dirty="0" err="1"/>
              <a:t>dengan</a:t>
            </a:r>
            <a:r>
              <a:rPr lang="en-US" dirty="0"/>
              <a:t> Basic auth yang di </a:t>
            </a:r>
            <a:r>
              <a:rPr lang="en-US" dirty="0" err="1"/>
              <a:t>ambil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Database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4462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83AF2-0B9E-A781-D2C9-57AA674AA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22DD1-631C-F163-D479-A2B65D45D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Apa </a:t>
            </a:r>
            <a:r>
              <a:rPr lang="en-US" dirty="0" err="1"/>
              <a:t>itu</a:t>
            </a:r>
            <a:r>
              <a:rPr lang="en-US" dirty="0"/>
              <a:t> Spring Data (   )(1/7)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749442-011A-70F1-189B-C009FED61C7A}"/>
              </a:ext>
            </a:extLst>
          </p:cNvPr>
          <p:cNvSpPr txBox="1"/>
          <p:nvPr/>
        </p:nvSpPr>
        <p:spPr>
          <a:xfrm>
            <a:off x="1213419" y="2165263"/>
            <a:ext cx="671716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i="1" dirty="0">
                <a:solidFill>
                  <a:srgbClr val="767676"/>
                </a:solidFill>
                <a:latin typeface="Arial" panose="020B0604020202020204" pitchFamily="34" charset="0"/>
              </a:rPr>
              <a:t>“</a:t>
            </a:r>
            <a:r>
              <a:rPr lang="en-US" sz="2400" b="1" dirty="0"/>
              <a:t>Spring Data</a:t>
            </a:r>
            <a:r>
              <a:rPr lang="en-US" sz="2400" dirty="0"/>
              <a:t> is a </a:t>
            </a:r>
            <a:r>
              <a:rPr lang="en-US" sz="2400" b="1" dirty="0"/>
              <a:t>Spring project</a:t>
            </a:r>
            <a:r>
              <a:rPr lang="en-US" sz="2400" dirty="0"/>
              <a:t> that simplifies working with </a:t>
            </a:r>
            <a:r>
              <a:rPr lang="en-US" sz="2400" u="sng" dirty="0"/>
              <a:t>databases and data access</a:t>
            </a:r>
            <a:r>
              <a:rPr lang="en-US" sz="2400" dirty="0"/>
              <a:t> in Java applications.</a:t>
            </a:r>
          </a:p>
          <a:p>
            <a:pPr algn="ctr"/>
            <a:r>
              <a:rPr lang="en-US" sz="2400" dirty="0"/>
              <a:t>It helps </a:t>
            </a:r>
            <a:r>
              <a:rPr lang="en-US" sz="2400" u="sng" dirty="0"/>
              <a:t>avoid writing boilerplate code</a:t>
            </a:r>
            <a:r>
              <a:rPr lang="en-US" sz="2400" dirty="0"/>
              <a:t> by providing a </a:t>
            </a:r>
            <a:r>
              <a:rPr lang="en-US" sz="2400" u="sng" dirty="0"/>
              <a:t>powerful abstraction layer</a:t>
            </a:r>
            <a:r>
              <a:rPr lang="en-US" sz="2400" dirty="0"/>
              <a:t> over various data stores.”</a:t>
            </a:r>
            <a:endParaRPr lang="en-US" sz="2400" i="1" dirty="0">
              <a:solidFill>
                <a:srgbClr val="474747"/>
              </a:solidFill>
              <a:effectLst/>
              <a:latin typeface="Arial" panose="020B0604020202020204" pitchFamily="34" charset="0"/>
            </a:endParaRPr>
          </a:p>
          <a:p>
            <a:pPr algn="ctr"/>
            <a:endParaRPr lang="en-US" sz="2400" i="1" dirty="0">
              <a:solidFill>
                <a:srgbClr val="474747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US" sz="2400" dirty="0"/>
              <a:t>~ spring.io ~</a:t>
            </a:r>
          </a:p>
        </p:txBody>
      </p:sp>
      <p:pic>
        <p:nvPicPr>
          <p:cNvPr id="1026" name="Picture 2" descr="Spring Boot color icon in PNG, SVG">
            <a:extLst>
              <a:ext uri="{FF2B5EF4-FFF2-40B4-BE49-F238E27FC236}">
                <a16:creationId xmlns:a16="http://schemas.microsoft.com/office/drawing/2014/main" id="{7829063E-2899-2208-5D0C-06AE27C10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3328" y="679932"/>
            <a:ext cx="429768" cy="404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7923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A062E-1AFC-0550-644B-6F612CFDE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4BFDE6-0E6C-E742-50C1-C493EA4A8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#7 (6/11)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0536B-AF17-9749-C4B3-A3E62DE9A4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9784"/>
          </a:xfrm>
        </p:spPr>
        <p:txBody>
          <a:bodyPr>
            <a:normAutofit/>
          </a:bodyPr>
          <a:lstStyle/>
          <a:p>
            <a:r>
              <a:rPr lang="en-US" dirty="0"/>
              <a:t>create a </a:t>
            </a:r>
            <a:r>
              <a:rPr lang="en-US" u="sng" dirty="0"/>
              <a:t>Maven</a:t>
            </a:r>
            <a:r>
              <a:rPr lang="en-US" dirty="0"/>
              <a:t> project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E9A82F-97E1-1C98-D651-F03D9A733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3925" y="1600200"/>
            <a:ext cx="2607347" cy="5002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2266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3101B-C821-31B9-AA99-6D95BE3B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A1D042-D3FF-763E-E435-6C100F890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#7 (6/11)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718B2-79E2-E107-5C5A-BE20AD8C5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9784"/>
          </a:xfrm>
        </p:spPr>
        <p:txBody>
          <a:bodyPr>
            <a:normAutofit/>
          </a:bodyPr>
          <a:lstStyle/>
          <a:p>
            <a:r>
              <a:rPr lang="en-US" dirty="0" err="1">
                <a:hlinkClick r:id="rId2"/>
              </a:rPr>
              <a:t>application.properties</a:t>
            </a:r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9AC013-A464-F2FB-C977-CC2BB08AA3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221" y="2339207"/>
            <a:ext cx="7487558" cy="30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8785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11545-0D2B-0F2E-BE05-301433AD9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FF8DB-BE42-3C3C-F2E0-7EB3BEF17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 #7 (6/11)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56E3E2-784F-566D-3A2C-E63EE19801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129784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pom.xml</a:t>
            </a: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endParaRPr lang="en-US" dirty="0">
              <a:hlinkClick r:id="rId2"/>
            </a:endParaRPr>
          </a:p>
          <a:p>
            <a:pPr marL="0" indent="0">
              <a:buNone/>
            </a:pPr>
            <a:endParaRPr lang="en-US" dirty="0">
              <a:hlinkClick r:id="rId2"/>
            </a:endParaRPr>
          </a:p>
          <a:p>
            <a:pPr marL="0" indent="0">
              <a:buNone/>
            </a:pPr>
            <a:endParaRPr lang="en-US" dirty="0">
              <a:hlinkClick r:id="rId2"/>
            </a:endParaRPr>
          </a:p>
          <a:p>
            <a:r>
              <a:rPr lang="en-US" dirty="0">
                <a:hlinkClick r:id="rId2"/>
              </a:rPr>
              <a:t>http://localhost:1951/h2-console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0BD1AB-D3AC-9C30-7E21-33897E187739}"/>
              </a:ext>
            </a:extLst>
          </p:cNvPr>
          <p:cNvSpPr txBox="1"/>
          <p:nvPr/>
        </p:nvSpPr>
        <p:spPr>
          <a:xfrm>
            <a:off x="777240" y="2252532"/>
            <a:ext cx="7342632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org.springframework.boot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&gt;spring-boot-starter-data-</a:t>
            </a:r>
            <a:r>
              <a:rPr lang="en-US" sz="180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jpa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&gt;com.h2database&lt;/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groupId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&gt;h2&lt;/</a:t>
            </a:r>
            <a:r>
              <a:rPr lang="en-US" sz="1800" dirty="0" err="1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artifactId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>
              <a:buNone/>
            </a:pP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  &lt;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&gt;runtime&lt;/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scope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  <a:p>
            <a:pPr marL="0" marR="0"/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en-US" sz="1800" dirty="0">
                <a:solidFill>
                  <a:srgbClr val="268BD2"/>
                </a:solidFill>
                <a:effectLst/>
                <a:latin typeface="Consolas" panose="020B0609020204030204" pitchFamily="49" charset="0"/>
              </a:rPr>
              <a:t>dependency</a:t>
            </a:r>
            <a:r>
              <a:rPr lang="en-US" sz="180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670569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5217</TotalTime>
  <Words>887</Words>
  <Application>Microsoft Office PowerPoint</Application>
  <PresentationFormat>On-screen Show (4:3)</PresentationFormat>
  <Paragraphs>213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Consolas</vt:lpstr>
      <vt:lpstr>Office Theme</vt:lpstr>
      <vt:lpstr>framework</vt:lpstr>
      <vt:lpstr>Materi</vt:lpstr>
      <vt:lpstr>Sejarah Spring framework (a story 🌱)</vt:lpstr>
      <vt:lpstr>Apa itu Spring framework (🌱) (1/4)</vt:lpstr>
      <vt:lpstr>Apa itu Spring framework (🌱)(2/4)</vt:lpstr>
      <vt:lpstr>Practice #1 (3/4)</vt:lpstr>
      <vt:lpstr>Practice #1 (4/4)</vt:lpstr>
      <vt:lpstr>Apa itu Spring Boot (   )(1/7)</vt:lpstr>
      <vt:lpstr>Spring Boot feature (   )(2/7)</vt:lpstr>
      <vt:lpstr>Practice #2 (3/7)</vt:lpstr>
      <vt:lpstr>Practice #2 (4/7)</vt:lpstr>
      <vt:lpstr>Practice #3 (5/7)</vt:lpstr>
      <vt:lpstr>Practice #4 (6/7)</vt:lpstr>
      <vt:lpstr>Practice #4 (7/7)</vt:lpstr>
      <vt:lpstr>Exercise</vt:lpstr>
      <vt:lpstr>Apa itu Spring MVC (   )(1/11)</vt:lpstr>
      <vt:lpstr>Spring MVC annotation (   )(2/11)</vt:lpstr>
      <vt:lpstr>Spring MVC annotation (   )(3/11)</vt:lpstr>
      <vt:lpstr>Spring MVC annotation (   )(4/11)</vt:lpstr>
      <vt:lpstr>Spring MVC annotation (   )(5/11)</vt:lpstr>
      <vt:lpstr>Practice #5 (6/11)</vt:lpstr>
      <vt:lpstr>Practice #5 (7/11)</vt:lpstr>
      <vt:lpstr>Practice #5 (8/11)</vt:lpstr>
      <vt:lpstr>Practice #5 (9/11)</vt:lpstr>
      <vt:lpstr>Practice #6 (10/11)</vt:lpstr>
      <vt:lpstr>Practice #6 (11/11)</vt:lpstr>
      <vt:lpstr>Exercise</vt:lpstr>
      <vt:lpstr>Apa itu Spring Data (   )(1/7)</vt:lpstr>
      <vt:lpstr>Practice #7 (6/11)</vt:lpstr>
      <vt:lpstr>Practice #7 (6/11)</vt:lpstr>
      <vt:lpstr>Practice #7 (6/11)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Rio Bastian</cp:lastModifiedBy>
  <cp:revision>84</cp:revision>
  <dcterms:created xsi:type="dcterms:W3CDTF">2013-01-27T09:14:16Z</dcterms:created>
  <dcterms:modified xsi:type="dcterms:W3CDTF">2025-06-25T02:45:50Z</dcterms:modified>
  <cp:category/>
</cp:coreProperties>
</file>